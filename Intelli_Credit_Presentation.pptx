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7772400" cy="1188720"/>
          </a:xfrm>
          <a:prstGeom prst="rect">
            <a:avLst/>
          </a:prstGeom>
          <a:solidFill>
            <a:srgbClr val="1B263B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INTELLI-CREDIT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2996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  <a:latin typeface="Calibri"/>
              </a:rPr>
              <a:t>Next-Gen Corporate Credit Appraisal  •  AI-Powered  •  India-First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7772400" cy="6400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816352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Upload docs → Research → Score → CAM Report   in under 90 seconds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57600"/>
            <a:ext cx="2103120" cy="914400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PILLAR 1
Extractor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3657600"/>
            <a:ext cx="2103120" cy="9144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3703320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PILLAR 2
Research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3657600"/>
            <a:ext cx="2103120" cy="9144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703320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PILLAR 3
CAM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1792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IIT Hackathon 2026  |  Team Intelli-Credit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097280"/>
            <a:ext cx="2926080" cy="685800"/>
          </a:xfrm>
          <a:prstGeom prst="rect">
            <a:avLst/>
          </a:prstGeom>
          <a:solidFill>
            <a:srgbClr val="00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1920240"/>
            <a:ext cx="2926080" cy="685800"/>
          </a:xfrm>
          <a:prstGeom prst="rect">
            <a:avLst/>
          </a:prstGeom>
          <a:solidFill>
            <a:srgbClr val="002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2743200"/>
            <a:ext cx="2926080" cy="685800"/>
          </a:xfrm>
          <a:prstGeom prst="rect">
            <a:avLst/>
          </a:prstGeom>
          <a:solidFill>
            <a:srgbClr val="003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3566160"/>
            <a:ext cx="2926080" cy="685800"/>
          </a:xfrm>
          <a:prstGeom prst="rect">
            <a:avLst/>
          </a:prstGeom>
          <a:solidFill>
            <a:srgbClr val="004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4389120"/>
            <a:ext cx="2926080" cy="685800"/>
          </a:xfrm>
          <a:prstGeom prst="rect">
            <a:avLst/>
          </a:prstGeom>
          <a:solidFill>
            <a:srgbClr val="005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5212080"/>
            <a:ext cx="2926080" cy="685800"/>
          </a:xfrm>
          <a:prstGeom prst="rect">
            <a:avLst/>
          </a:prstGeom>
          <a:solidFill>
            <a:srgbClr val="00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Problem: India's Credit Data Paradox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Calibri"/>
              </a:rPr>
              <a:t>Why corporate credit appraisal is broken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566160" cy="228600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3545"/>
                </a:solidFill>
                <a:latin typeface="Calibri"/>
              </a:rPr>
              <a:t>⏱  2–3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Process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Calibri"/>
              </a:rPr>
              <a:t>Manual data stitching from
10+ fragmented 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566160" cy="228600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C107"/>
                </a:solidFill>
                <a:latin typeface="Calibri"/>
              </a:rPr>
              <a:t>⚠  Human Bias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385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Decision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Calibri"/>
              </a:rPr>
              <a:t>No systematic cross-verification
of declared vs actual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566160" cy="228600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3545"/>
                </a:solidFill>
                <a:latin typeface="Calibri"/>
              </a:rPr>
              <a:t>📉  Missed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385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Risk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Calibri"/>
              </a:rPr>
              <a:t>India-specific fraud signals
(GST inflation, ITC fraud) unseen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49039"/>
            <a:ext cx="11457432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8404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DISPARATE DATA SOURCES A CREDIT MANAGER MUST MANUALLY STITCH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60520"/>
            <a:ext cx="2743200" cy="242316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251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8A0"/>
                </a:solidFill>
                <a:latin typeface="Calibri"/>
              </a:rPr>
              <a:t>Structured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GST Filings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560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ITR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48655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Bank Statements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4160520"/>
            <a:ext cx="2743200" cy="242316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251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Calibri"/>
              </a:rPr>
              <a:t>Unstructured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663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Annual 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9560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Rating 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5248655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Board Minutes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160520"/>
            <a:ext cx="2743200" cy="242316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251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External Intel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663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MCA Filings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9560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eCourts Portal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248655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News Reports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81160" y="4160520"/>
            <a:ext cx="2743200" cy="242316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4251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  <a:latin typeface="Calibri"/>
              </a:rPr>
              <a:t>Primary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4663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Site Visits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49560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Mgmt Interviews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5248655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Due Diligence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Our Solution: Intelli-Credit AI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Calibri"/>
              </a:rPr>
              <a:t>Three AI pillars → One unified Credit Appraisal Memorandum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3657600" cy="502920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33502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01  PILLAR 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3657600" cy="411480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8A0"/>
                </a:solidFill>
                <a:latin typeface="Calibri"/>
              </a:rPr>
              <a:t>DOCUMENT
EXTRACTOR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PDF / DOCX / XLSX /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3065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6 auto-classified doc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5526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LLM structured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798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11 cross-validation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0448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CV-009: GST vs Bank fraud 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291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CV-011: GSTR-2A vs 3B 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1280160"/>
            <a:ext cx="3657600" cy="5029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33502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02  PILLAR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1783080"/>
            <a:ext cx="3657600" cy="411480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2" y="187451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AFF"/>
                </a:solidFill>
                <a:latin typeface="Calibri"/>
              </a:rPr>
              <a:t>RESEARCH
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606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6 concurrent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293065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RBI Wilful Defaulter 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325526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MCA21 filings + charges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35798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eCourts litigation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390448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Tavily news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42291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GSTN + CIBIL scores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38744" y="1280160"/>
            <a:ext cx="3657600" cy="5029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8472" y="133502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03  PILLAR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38744" y="1783080"/>
            <a:ext cx="3657600" cy="411480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75904" y="187451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107"/>
                </a:solidFill>
                <a:latin typeface="Calibri"/>
              </a:rPr>
              <a:t>CAM
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2606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8-dimension scoring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293065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22 financial scoring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325526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9 cross-pillar contradictions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35798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LLM narrative generation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390448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Explainable rate derivation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4" y="42291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DOCX + PDF output 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3383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36992" y="3383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6080760"/>
            <a:ext cx="11548872" cy="594360"/>
          </a:xfrm>
          <a:prstGeom prst="rect">
            <a:avLst/>
          </a:prstGeom>
          <a:solidFill>
            <a:srgbClr val="1B263B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172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107"/>
                </a:solidFill>
                <a:latin typeface="Calibri"/>
              </a:rPr>
              <a:t>OUTPUT: Downloadable CAM Report (DOCX + PDF)  •  Decision: APPROVE / CONDITIONAL / REJECT  •  Score /100  •  Rate derivation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No Other Team Will Have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Calibri"/>
              </a:rPr>
              <a:t>India-specific intelligence baked into the credit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623560" cy="233172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35608"/>
            <a:ext cx="822960" cy="34747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3560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★ CV-009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1435608"/>
            <a:ext cx="914400" cy="347472"/>
          </a:xfrm>
          <a:prstGeom prst="rect">
            <a:avLst/>
          </a:prstGeom>
          <a:solidFill>
            <a:srgbClr val="1B263B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4356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DC3545"/>
                </a:solidFill>
                <a:latin typeface="Calibri"/>
              </a:rPr>
              <a:t>CRITICAL FLAG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4356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GST vs Bank Circular Trading Detector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Calibri"/>
              </a:rPr>
              <a:t>GST declared turnover ÷ Bank credits &gt; 1.30x = CRITICAL fraud flag.
The borrower is inflating revenue in GST returns vs actual bank flows.
India-specific  •  baked into the composite score  •  in the CAM doc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25880"/>
            <a:ext cx="5623560" cy="233172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435608"/>
            <a:ext cx="822960" cy="34747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3560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★ CV-011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81360" y="1435608"/>
            <a:ext cx="914400" cy="347472"/>
          </a:xfrm>
          <a:prstGeom prst="rect">
            <a:avLst/>
          </a:prstGeom>
          <a:solidFill>
            <a:srgbClr val="1B263B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0" y="14356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DC3545"/>
                </a:solidFill>
                <a:latin typeface="Calibri"/>
              </a:rPr>
              <a:t>CRITICAL FLAG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14356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GSTR-2A vs GSTR-3B ITC Reconciliation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2024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Calibri"/>
              </a:rPr>
              <a:t>GSTR-2A is auto-populated from supplier filings — cannot be falsified.
If GSTR-3B ITC &gt; GSTR-2A ITC by &gt;10% = Bogus invoice / fabricated credits.
Only a team that understands Indian GST architecture builds this.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5623560" cy="233172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041648"/>
            <a:ext cx="822960" cy="34747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416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Calibri"/>
              </a:rPr>
              <a:t>★ 9-Rule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4041648"/>
            <a:ext cx="914400" cy="347472"/>
          </a:xfrm>
          <a:prstGeom prst="rect">
            <a:avLst/>
          </a:prstGeom>
          <a:solidFill>
            <a:srgbClr val="1B263B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40416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C107"/>
                </a:solidFill>
                <a:latin typeface="Calibri"/>
              </a:rPr>
              <a:t>UNIQUE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0416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Cross-Pillar Contradiction Detector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5262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Calibri"/>
              </a:rPr>
              <a:t>Strong financials but adverse research signals? The system explicitly flags
this — exactly the scenario in the problem statement example.
Every conflict shown in the CAM with source pillar labels.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931920"/>
            <a:ext cx="5623560" cy="233172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46520" y="4041648"/>
            <a:ext cx="822960" cy="347472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0416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★ ±15pt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881360" y="4041648"/>
            <a:ext cx="914400" cy="347472"/>
          </a:xfrm>
          <a:prstGeom prst="rect">
            <a:avLst/>
          </a:prstGeom>
          <a:solidFill>
            <a:srgbClr val="1B263B"/>
          </a:solidFill>
          <a:ln w="12700">
            <a:solidFill>
              <a:srgbClr val="00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81360" y="40416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B8A0"/>
                </a:solidFill>
                <a:latin typeface="Calibri"/>
              </a:rPr>
              <a:t>QUANTIFIED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40416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Primary Insight Score Adjustment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5262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Calibri"/>
              </a:rPr>
              <a:t>Factory visit observations, management quality, CIBIL score feed directly
into the composite score as quantitative ±15 point adjustment.
Field observations are NOT just notes — they move the needle.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End-to-End 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Calibri"/>
              </a:rPr>
              <a:t>From document upload to downloadable CAM — under 90 seconds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737360" cy="2560320"/>
          </a:xfrm>
          <a:prstGeom prst="rect">
            <a:avLst/>
          </a:prstGeom>
          <a:solidFill>
            <a:srgbClr val="1B263B"/>
          </a:solidFill>
          <a:ln w="25400">
            <a:solidFill>
              <a:srgbClr val="00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737360" cy="411480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47088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  <a:latin typeface="Calibri"/>
              </a:rPr>
              <a:t>Credit officer
uploads PDFs,
DOCX, XLSX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520440"/>
            <a:ext cx="1280160" cy="292608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5204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~0s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3774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FF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79" y="1371600"/>
            <a:ext cx="1737360" cy="2560320"/>
          </a:xfrm>
          <a:prstGeom prst="rect">
            <a:avLst/>
          </a:prstGeom>
          <a:solidFill>
            <a:srgbClr val="1B263B"/>
          </a:solidFill>
          <a:ln w="25400">
            <a:solidFill>
              <a:srgbClr val="00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40279" y="1371600"/>
            <a:ext cx="1737360" cy="411480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79" y="13716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19" y="1847088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  <a:latin typeface="Calibri"/>
              </a:rPr>
              <a:t>Format detect
LLM structure
11 validations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79" y="3520440"/>
            <a:ext cx="1280160" cy="292608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35204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~15–30s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23774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FF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371600"/>
            <a:ext cx="1737360" cy="2560320"/>
          </a:xfrm>
          <a:prstGeom prst="rect">
            <a:avLst/>
          </a:prstGeom>
          <a:solidFill>
            <a:srgbClr val="1B263B"/>
          </a:solidFill>
          <a:ln w="254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0" y="1371600"/>
            <a:ext cx="1737360" cy="4114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13716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847088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  <a:latin typeface="Calibri"/>
              </a:rPr>
              <a:t>6 concurrent
async sources
RBI+MCA+Courts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520440"/>
            <a:ext cx="1280160" cy="292608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5204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~8–20s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3774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FF"/>
                </a:solidFill>
                <a:latin typeface="Calibri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199" y="1371600"/>
            <a:ext cx="1737360" cy="2560320"/>
          </a:xfrm>
          <a:prstGeom prst="rect">
            <a:avLst/>
          </a:prstGeom>
          <a:solidFill>
            <a:srgbClr val="1B263B"/>
          </a:solidFill>
          <a:ln w="254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199" y="1371600"/>
            <a:ext cx="1737360" cy="4114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199" y="13716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39" y="1847088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  <a:latin typeface="Calibri"/>
              </a:rPr>
              <a:t>8-dimension
weighted model
+contradictions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799" y="3520440"/>
            <a:ext cx="1280160" cy="292608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799" y="35204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~3s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59" y="23774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FF"/>
                </a:solidFill>
                <a:latin typeface="Calibri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1371600"/>
            <a:ext cx="1737360" cy="2560320"/>
          </a:xfrm>
          <a:prstGeom prst="rect">
            <a:avLst/>
          </a:prstGeom>
          <a:solidFill>
            <a:srgbClr val="1B263B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1371600"/>
            <a:ext cx="1737360" cy="411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13716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NARRATIVE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1847088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  <a:latin typeface="Calibri"/>
              </a:rPr>
              <a:t>LLM generates
8 CAM sections
full rationale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6760" y="3520440"/>
            <a:ext cx="1280160" cy="2926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35204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Calibri"/>
              </a:rPr>
              <a:t>~10–20s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23774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FF"/>
                </a:solidFill>
                <a:latin typeface="Calibri"/>
              </a:rPr>
              <a:t>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04120" y="1371600"/>
            <a:ext cx="1737360" cy="2560320"/>
          </a:xfrm>
          <a:prstGeom prst="rect">
            <a:avLst/>
          </a:prstGeom>
          <a:solidFill>
            <a:srgbClr val="1B263B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104120" y="1371600"/>
            <a:ext cx="1737360" cy="411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04120" y="13716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DOWNLOAD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1847088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  <a:latin typeface="Calibri"/>
              </a:rPr>
              <a:t>DOCX + PDF
CAM Report
ready to share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32720" y="3520440"/>
            <a:ext cx="1280160" cy="29260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32720" y="35204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~3s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160520"/>
            <a:ext cx="11640312" cy="54864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251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TOTAL END-TO-END:  ~45–90 seconds   vs   2–3 weeks manually   =  97% time reduction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TECH STACK: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937760"/>
            <a:ext cx="1600200" cy="320040"/>
          </a:xfrm>
          <a:prstGeom prst="rect">
            <a:avLst/>
          </a:prstGeom>
          <a:solidFill>
            <a:srgbClr val="1B263B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2608" y="49560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Next.js 15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38528" y="4937760"/>
            <a:ext cx="1600200" cy="320040"/>
          </a:xfrm>
          <a:prstGeom prst="rect">
            <a:avLst/>
          </a:prstGeom>
          <a:solidFill>
            <a:srgbClr val="1B263B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56816" y="49560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02736" y="4937760"/>
            <a:ext cx="1600200" cy="320040"/>
          </a:xfrm>
          <a:prstGeom prst="rect">
            <a:avLst/>
          </a:prstGeom>
          <a:solidFill>
            <a:srgbClr val="1B263B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21024" y="49560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SQLite → Databricks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66944" y="4937760"/>
            <a:ext cx="1600200" cy="320040"/>
          </a:xfrm>
          <a:prstGeom prst="rect">
            <a:avLst/>
          </a:prstGeom>
          <a:solidFill>
            <a:srgbClr val="1B263B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85232" y="49560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pdfplumber + OCR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31152" y="4937760"/>
            <a:ext cx="1600200" cy="320040"/>
          </a:xfrm>
          <a:prstGeom prst="rect">
            <a:avLst/>
          </a:prstGeom>
          <a:solidFill>
            <a:srgbClr val="1B263B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49440" y="49560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httpx asyncio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95360" y="4937760"/>
            <a:ext cx="1600200" cy="320040"/>
          </a:xfrm>
          <a:prstGeom prst="rect">
            <a:avLst/>
          </a:prstGeom>
          <a:solidFill>
            <a:srgbClr val="1B263B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13648" y="49560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Anthropic Claude / Gemini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259568" y="4937760"/>
            <a:ext cx="1600200" cy="320040"/>
          </a:xfrm>
          <a:prstGeom prst="rect">
            <a:avLst/>
          </a:prstGeom>
          <a:solidFill>
            <a:srgbClr val="1B263B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77856" y="49560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python-docx + reportlab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5440680"/>
            <a:ext cx="11640312" cy="123444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553212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PILLAR 2: Research Agent — 6 Concurrent Sources (asyncio.gather)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5897880"/>
            <a:ext cx="1737360" cy="5943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5943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RBI Wilful
Defaulter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423160" y="5897880"/>
            <a:ext cx="1737360" cy="59436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423160" y="5943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MCA21
Filings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43400" y="5897880"/>
            <a:ext cx="1737360" cy="5943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43400" y="5943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Calibri"/>
              </a:rPr>
              <a:t>eCourts
Litigation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63640" y="5897880"/>
            <a:ext cx="1737360" cy="594360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63640" y="5943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Tavily
News AI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83880" y="5897880"/>
            <a:ext cx="1737360" cy="5943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83880" y="5943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GSTN
Status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104120" y="5897880"/>
            <a:ext cx="1737360" cy="59436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04120" y="5943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CIBIL
Scores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8-Dimension Scoring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Calibri"/>
              </a:rPr>
              <a:t>Composite credit score: deterministic, weighted, explainable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1298448"/>
            <a:ext cx="5623560" cy="1207008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3552" y="1371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Weight: 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13441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28A745"/>
                </a:solidFill>
                <a:latin typeface="Calibri"/>
              </a:rPr>
              <a:t>78/100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" y="1773936"/>
            <a:ext cx="4572000" cy="201168"/>
          </a:xfrm>
          <a:prstGeom prst="rect">
            <a:avLst/>
          </a:prstGeom>
          <a:solidFill>
            <a:srgbClr val="1B263B"/>
          </a:solidFill>
          <a:ln w="63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" y="1773936"/>
            <a:ext cx="3566160" cy="20116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0482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DSCR • ICR • CFO • Revenue CAGR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2651760"/>
            <a:ext cx="5623560" cy="1207008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2724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Capital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27249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Weight: 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697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28A745"/>
                </a:solidFill>
                <a:latin typeface="Calibri"/>
              </a:rPr>
              <a:t>65/100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3127248"/>
            <a:ext cx="4572000" cy="201168"/>
          </a:xfrm>
          <a:prstGeom prst="rect">
            <a:avLst/>
          </a:prstGeom>
          <a:solidFill>
            <a:srgbClr val="1B263B"/>
          </a:solidFill>
          <a:ln w="63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" y="3127248"/>
            <a:ext cx="2971800" cy="20116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4015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Net Worth • D/E Ratio • TNW • WC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4005072"/>
            <a:ext cx="5623560" cy="1207008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40782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Character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407822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Weight: 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40507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C107"/>
                </a:solidFill>
                <a:latin typeface="Calibri"/>
              </a:rPr>
              <a:t>55/100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" y="4480560"/>
            <a:ext cx="4572000" cy="201168"/>
          </a:xfrm>
          <a:prstGeom prst="rect">
            <a:avLst/>
          </a:prstGeom>
          <a:solidFill>
            <a:srgbClr val="1B263B"/>
          </a:solidFill>
          <a:ln w="63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4632" y="4480560"/>
            <a:ext cx="2514600" cy="20116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47548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RBI • MCA • eCourts • News Intel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5358383"/>
            <a:ext cx="5623560" cy="1207008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" y="543153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Collateral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3552" y="5431535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Weight: 15%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5404103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28A745"/>
                </a:solidFill>
                <a:latin typeface="Calibri"/>
              </a:rPr>
              <a:t>72/100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" y="5833871"/>
            <a:ext cx="4572000" cy="201168"/>
          </a:xfrm>
          <a:prstGeom prst="rect">
            <a:avLst/>
          </a:prstGeom>
          <a:solidFill>
            <a:srgbClr val="1B263B"/>
          </a:solidFill>
          <a:ln w="63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" y="5833871"/>
            <a:ext cx="3291840" cy="20116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6108191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Coverage • Charge rank • Pledge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91072" y="1298448"/>
            <a:ext cx="5623560" cy="1207008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2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Conditions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7152" y="1371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Weight: 10%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05872" y="13441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C107"/>
                </a:solidFill>
                <a:latin typeface="Calibri"/>
              </a:rPr>
              <a:t>60/100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28232" y="1773936"/>
            <a:ext cx="4572000" cy="201168"/>
          </a:xfrm>
          <a:prstGeom prst="rect">
            <a:avLst/>
          </a:prstGeom>
          <a:solidFill>
            <a:srgbClr val="1B263B"/>
          </a:solidFill>
          <a:ln w="63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28232" y="1773936"/>
            <a:ext cx="2743200" cy="20116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2" y="20482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Sector outlook from News AI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91072" y="2651760"/>
            <a:ext cx="5623560" cy="1207008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2724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GST Quality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17152" y="27249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Weight: 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05872" y="2697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28A745"/>
                </a:solidFill>
                <a:latin typeface="Calibri"/>
              </a:rPr>
              <a:t>81/100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28232" y="3127248"/>
            <a:ext cx="4572000" cy="201168"/>
          </a:xfrm>
          <a:prstGeom prst="rect">
            <a:avLst/>
          </a:prstGeom>
          <a:solidFill>
            <a:srgbClr val="1B263B"/>
          </a:solidFill>
          <a:ln w="63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28232" y="3127248"/>
            <a:ext cx="3703320" cy="20116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28232" y="34015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Filing compliance • Bank recon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91072" y="4005072"/>
            <a:ext cx="5623560" cy="1207008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28232" y="40782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Litigation Risk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7152" y="407822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Weight: 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05872" y="40507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28A745"/>
                </a:solidFill>
                <a:latin typeface="Calibri"/>
              </a:rPr>
              <a:t>70/100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28232" y="4480560"/>
            <a:ext cx="4572000" cy="201168"/>
          </a:xfrm>
          <a:prstGeom prst="rect">
            <a:avLst/>
          </a:prstGeom>
          <a:solidFill>
            <a:srgbClr val="1B263B"/>
          </a:solidFill>
          <a:ln w="63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28232" y="4480560"/>
            <a:ext cx="3200400" cy="20116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28232" y="47548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eCourts case severity count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91072" y="5358383"/>
            <a:ext cx="5623560" cy="1207008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28232" y="543153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MCA Compliance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17152" y="5431535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Weight: 2%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05872" y="5404103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28A745"/>
                </a:solidFill>
                <a:latin typeface="Calibri"/>
              </a:rPr>
              <a:t>75/100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28232" y="5833871"/>
            <a:ext cx="4572000" cy="201168"/>
          </a:xfrm>
          <a:prstGeom prst="rect">
            <a:avLst/>
          </a:prstGeom>
          <a:solidFill>
            <a:srgbClr val="1B263B"/>
          </a:solidFill>
          <a:ln w="63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28232" y="5833871"/>
            <a:ext cx="3429000" cy="20116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28232" y="6108191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ROC filing recency • DIN history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7472" y="6492240"/>
            <a:ext cx="11494008" cy="274320"/>
          </a:xfrm>
          <a:prstGeom prst="rect">
            <a:avLst/>
          </a:prstGeom>
          <a:solidFill>
            <a:srgbClr val="1B263B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65105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C107"/>
                </a:solidFill>
                <a:latin typeface="Calibri"/>
              </a:rPr>
              <a:t>COMPOSITE SCORE: 68/100  →  AMBER  →  CONDITIONAL APPROVAL    |    Interest Rate: 12.75% p.a.    |    Recommended Amount: ₹47.5 Cr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CAM Report Output — IDFC First Bank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Calibri"/>
              </a:rPr>
              <a:t>Downloadable DOCX + PDF  •  10-section structured memorandum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2240280" cy="3840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§ 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09928"/>
            <a:ext cx="2240280" cy="164592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Executive Summary
&amp;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325880"/>
            <a:ext cx="2240280" cy="384048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325880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§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1709928"/>
            <a:ext cx="2240280" cy="164592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82880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Company &amp;
Business Profile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1325880"/>
            <a:ext cx="2240280" cy="38404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325880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§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1709928"/>
            <a:ext cx="2240280" cy="164592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182880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Character
(Research Intel)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1325880"/>
            <a:ext cx="2240280" cy="38404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1325880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§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1709928"/>
            <a:ext cx="2240280" cy="164592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182880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Capacity &amp;
Financials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29800" y="1325880"/>
            <a:ext cx="2240280" cy="384048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1325880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§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29800" y="1709928"/>
            <a:ext cx="2240280" cy="164592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1240" y="182880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Capital &amp;
Balance Sheet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703320"/>
            <a:ext cx="2240280" cy="384048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703320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§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087368"/>
            <a:ext cx="2240280" cy="164592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20624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Collateral
Analysis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80" y="3703320"/>
            <a:ext cx="2240280" cy="38404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97480" y="3703320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§ 7A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97480" y="4087368"/>
            <a:ext cx="2240280" cy="164592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88920" y="420624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GST Intelligence
(India-specific ★)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74920" y="3703320"/>
            <a:ext cx="2240280" cy="3840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3703320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§ 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74920" y="4087368"/>
            <a:ext cx="2240280" cy="164592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66360" y="420624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Risk Matrix
&amp; Flags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52360" y="3703320"/>
            <a:ext cx="2240280" cy="38404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60" y="3703320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§ 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52360" y="4087368"/>
            <a:ext cx="2240280" cy="164592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43800" y="420624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Recommendation
&amp; Rate Derivation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29800" y="3703320"/>
            <a:ext cx="2240280" cy="3840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29800" y="3703320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§10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29800" y="4087368"/>
            <a:ext cx="2240280" cy="164592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21240" y="420624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Decision Rationale
&amp; Audit Trail 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932920" y="1325880"/>
            <a:ext cx="914" cy="914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298680" y="1325880"/>
            <a:ext cx="2286000" cy="5349240"/>
          </a:xfrm>
          <a:prstGeom prst="rect">
            <a:avLst/>
          </a:prstGeom>
          <a:solidFill>
            <a:srgbClr val="1B263B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6172200"/>
            <a:ext cx="11548872" cy="502920"/>
          </a:xfrm>
          <a:prstGeom prst="rect">
            <a:avLst/>
          </a:prstGeom>
          <a:solidFill>
            <a:srgbClr val="1B263B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62453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  <a:latin typeface="Calibri"/>
              </a:rPr>
              <a:t>✓  IDFC First Bank Grid Style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34640" y="62453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  <a:latin typeface="Calibri"/>
              </a:rPr>
              <a:t>✓  python-docx native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62453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  <a:latin typeface="Calibri"/>
              </a:rPr>
              <a:t>✓  reportlab PDF fallback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62453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  <a:latin typeface="Calibri"/>
              </a:rPr>
              <a:t>✓  Auto-heals missing files on startup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62453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  <a:latin typeface="Calibri"/>
              </a:rPr>
              <a:t>✓  ~41–45 KB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Live Demo — Bhushan Power &amp; Steel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Calibri"/>
              </a:rPr>
              <a:t>Pre-seeded case CASE_2026_DEMO01 ready as fallback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98448"/>
            <a:ext cx="3749039" cy="457200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STEP 1  —  LOGIN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55648"/>
            <a:ext cx="3749039" cy="192024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92808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credit_manager@bank.com
password: manager123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298448"/>
            <a:ext cx="3749039" cy="4572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19" y="13716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STEP 2  — 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755648"/>
            <a:ext cx="3749039" cy="192024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39" y="1892808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See case list with
risk bands + decisions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298448"/>
            <a:ext cx="3749039" cy="4572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3716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STEP 3  —  OPEN BPSL 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755648"/>
            <a:ext cx="3749039" cy="192024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92808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CASE_2026_DEMO01
Bhushan Power &amp; Steel Ltd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950208"/>
            <a:ext cx="3749039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0233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STEP 4  —  VIEW CAM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407408"/>
            <a:ext cx="3749039" cy="192024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544568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Score: 68/100 AMBER
Conditional Approval
₹47.5 Cr @ 12.75%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3950208"/>
            <a:ext cx="3749039" cy="457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19" y="40233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STEP 5  —  CONTRADICTIONS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4407408"/>
            <a:ext cx="3749039" cy="192024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39" y="4544568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Show cross-pillar
contradiction callouts
(the differentiator!)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950208"/>
            <a:ext cx="3749039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40233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STEP 6  —  DOWNLOAD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407408"/>
            <a:ext cx="3749039" cy="192024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4544568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Click PDF / DOCX
Full 10-section CAM
auto-generated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446520"/>
            <a:ext cx="11640312" cy="292608"/>
          </a:xfrm>
          <a:prstGeom prst="rect">
            <a:avLst/>
          </a:prstGeom>
          <a:solidFill>
            <a:srgbClr val="1B263B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C107"/>
                </a:solidFill>
                <a:latin typeface="Calibri"/>
              </a:rPr>
              <a:t>⚡ LIVE PIPELINE:  Upload BPSL DOCX → Pipeline runs in ~60s → Download fresh CAM    |    FALLBACK: CASE_2026_DEMO01 always 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Measurable Claims — Real Numbers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Calibri"/>
              </a:rPr>
              <a:t>Every number traceable to the actual source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2788920" cy="233172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3560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C107"/>
                </a:solidFill>
                <a:latin typeface="Calibri"/>
              </a:rPr>
              <a:t>&lt; 90s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2199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End-to-end pipeline
Upload → CAM 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44952"/>
            <a:ext cx="251460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EC5"/>
                </a:solidFill>
                <a:latin typeface="Calibri"/>
              </a:rPr>
              <a:t>2–3 weeks manually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25880"/>
            <a:ext cx="2788920" cy="233172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43560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7AFF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22199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Concurrent research
sources via asyncio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3044952"/>
            <a:ext cx="251460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0632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EC5"/>
                </a:solidFill>
                <a:latin typeface="Calibri"/>
              </a:rPr>
              <a:t>All run in parallel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325880"/>
            <a:ext cx="2788920" cy="233172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3560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8A0"/>
                </a:solidFill>
                <a:latin typeface="Calibr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2199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Cross-validation
checks (CV_001–011)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044952"/>
            <a:ext cx="251460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0632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EC5"/>
                </a:solidFill>
                <a:latin typeface="Calibri"/>
              </a:rPr>
              <a:t>11 deterministic rules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325880"/>
            <a:ext cx="2788920" cy="233172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43560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8A745"/>
                </a:solidFill>
                <a:latin typeface="Calibri"/>
              </a:rPr>
              <a:t>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22199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Financial scoring
rules (ScoreBreakdown)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72600" y="3044952"/>
            <a:ext cx="251460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30632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EC5"/>
                </a:solidFill>
                <a:latin typeface="Calibri"/>
              </a:rPr>
              <a:t>Capacity+Capital+Collateral+GST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931920"/>
            <a:ext cx="2788920" cy="233172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04164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C3545"/>
                </a:solidFill>
                <a:latin typeface="Calibri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2803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Cross-pillar
contradiction rules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650992"/>
            <a:ext cx="251460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6692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EC5"/>
                </a:solidFill>
                <a:latin typeface="Calibri"/>
              </a:rPr>
              <a:t>Natural language output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3931920"/>
            <a:ext cx="2788920" cy="233172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404164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482803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Input formats
PDF/DOCX/XLSX/CSV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29000" y="5650992"/>
            <a:ext cx="251460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56692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EC5"/>
                </a:solidFill>
                <a:latin typeface="Calibri"/>
              </a:rPr>
              <a:t>6 auto-classified doc types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931920"/>
            <a:ext cx="2788920" cy="233172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04164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C107"/>
                </a:solidFill>
                <a:latin typeface="Calibri"/>
              </a:rPr>
              <a:t>±15 pts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82803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Primary Insight
adjustment range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5650992"/>
            <a:ext cx="251460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56692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EC5"/>
                </a:solidFill>
                <a:latin typeface="Calibri"/>
              </a:rPr>
              <a:t>Field obs → score impact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3931920"/>
            <a:ext cx="2788920" cy="233172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72600" y="4041648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7AFF"/>
                </a:solidFill>
                <a:latin typeface="Calibri"/>
              </a:rPr>
              <a:t>~12.5K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482803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Lines of code
across 50 source files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72600" y="5650992"/>
            <a:ext cx="251460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56692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EC5"/>
                </a:solidFill>
                <a:latin typeface="Calibri"/>
              </a:rPr>
              <a:t>Production-grade codebase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Production Readiness &amp; Databricks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  <a:latin typeface="Calibri"/>
              </a:rPr>
              <a:t>One environment variable separates demo from enterprise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5486400" cy="539496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  <a:latin typeface="Calibri"/>
              </a:rPr>
              <a:t>✅  What's Production-Ready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JWT authentication (24h tokens, role-based)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7691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SQLite → Databricks Delta Lake (USE_DATABRICKS=true)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3230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Startup auto-healer: regenerates missing DOCX/PDF on boot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56915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On-demand document regeneration: POST /cam/regenerate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8152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All paths stored as absolute (no relative path bugs)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06139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3-strategy PDF: docx2pdf → LibreOffice → reportlab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30752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6 research sources with retry + exponential backoff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55363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Graceful degradation: DOCX served if PDF conversion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79976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Cross-pillar contradiction audit trail in every CAM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0458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Full explainability chain: every basis point justified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298448"/>
            <a:ext cx="5833872" cy="5394960"/>
          </a:xfrm>
          <a:prstGeom prst="rect">
            <a:avLst/>
          </a:prstGeom>
          <a:solidFill>
            <a:srgbClr val="1B263B"/>
          </a:solidFill>
          <a:ln w="101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389888"/>
            <a:ext cx="5559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Calibri"/>
              </a:rPr>
              <a:t>🔄  Databricks Integration Path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920240"/>
            <a:ext cx="5349240" cy="109728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9933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A0"/>
                </a:solidFill>
                <a:latin typeface="Calibri"/>
              </a:rPr>
              <a:t>HACKATHON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USE_DATABRICKS=false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33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SQLite • Local files • JSON fallbacks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291840"/>
            <a:ext cx="5349240" cy="1097280"/>
          </a:xfrm>
          <a:prstGeom prst="rect">
            <a:avLst/>
          </a:prstGeom>
          <a:solidFill>
            <a:srgbClr val="0D1B2A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3649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  <a:latin typeface="Calibri"/>
              </a:rPr>
              <a:t>PRODUCTION 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703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USE_DATABRICKS=true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0050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Databricks Delta Lake • DBFS • MLflow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Calibri"/>
              </a:rPr>
              <a:t>↕  ONE ENV VAR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617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Full Databricks Stack: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89204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Databricks Model Serving (LLM inference)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193792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Delta Lake (case + audit storage)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49554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MLflow experiment tracking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797296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Unity Catalog (data governance)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INTELLI-CREDIT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EC5"/>
                </a:solidFill>
                <a:latin typeface="Calibri"/>
              </a:rPr>
              <a:t>The only credit appraisal system that cross-verifies GST declared revenue
against bank credits to detect circular trading — India's #1 lending fraud signal.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474720"/>
            <a:ext cx="7616952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749039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  <a:latin typeface="Calibri"/>
              </a:rPr>
              <a:t>★  GST vs Bank fraud detector  (CV-009)  — baked into the credit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224527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★  GSTR-2A vs GSTR-3B ITC reconciliation  (CV-011)  — fabricated input tax credit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700016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★  9-rule cross-pillar contradiction detector  — explicit conflict disclosure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175504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★  Full explainability chain  — every basis point in the rate is justified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6509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★  Under 90 seconds  — from upload to downloadable CAM report (PDF + DOCX)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30936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  <a:latin typeface="Calibri"/>
              </a:rPr>
              <a:t>IIT Hackathon 2026  •  Team Intelli-Credit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